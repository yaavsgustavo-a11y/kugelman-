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lt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"/>
          <p:cNvSpPr>
            <a:spLocks noGrp="1"/>
          </p:cNvSpPr>
          <p:nvPr/>
        </p:nvSpPr>
        <p:spPr>
          <a:xfrm>
            <a:off x="914400" y="2300000"/>
            <a:ext cx="10363200" cy="70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s-MX" sz="5400" b="1">
                <a:solidFill>
                  <a:srgbClr val="FFFFFF"/>
                </a:solidFill>
              </a:rPr>
              <a:t>Kugelman Academy</a:t>
            </a:r>
          </a:p>
        </p:txBody>
      </p:sp>
      <p:sp>
        <p:nvSpPr>
          <p:cNvPr id="4" name="tb"/>
          <p:cNvSpPr>
            <a:spLocks noGrp="1"/>
          </p:cNvSpPr>
          <p:nvPr/>
        </p:nvSpPr>
        <p:spPr>
          <a:xfrm>
            <a:off x="914400" y="3150000"/>
            <a:ext cx="10363200" cy="60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s-MX" sz="2800" b="1">
                <a:solidFill>
                  <a:srgbClr val="9DC3E6"/>
                </a:solidFill>
              </a:rPr>
              <a:t>Plan de Marketing y Crecimiento</a:t>
            </a:r>
          </a:p>
        </p:txBody>
      </p:sp>
      <p:sp>
        <p:nvSpPr>
          <p:cNvPr id="5" name="tb"/>
          <p:cNvSpPr>
            <a:spLocks noGrp="1"/>
          </p:cNvSpPr>
          <p:nvPr/>
        </p:nvSpPr>
        <p:spPr>
          <a:xfrm>
            <a:off x="914400" y="3800000"/>
            <a:ext cx="10363200" cy="50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s-MX" sz="2000">
                <a:solidFill>
                  <a:srgbClr val="BDD7EE"/>
                </a:solidFill>
              </a:rPr>
              <a:t>Septiembre – Diciembre 2026</a:t>
            </a:r>
          </a:p>
        </p:txBody>
      </p:sp>
    </p:spTree>
  </p:cSld>
  <p:clrMapOvr>
    <a:override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"/>
          <p:cNvSpPr>
            <a:spLocks noGrp="1"/>
          </p:cNvSpPr>
          <p:nvPr/>
        </p:nvSpPr>
        <p:spPr>
          <a:xfrm>
            <a:off x="457200" y="180000"/>
            <a:ext cx="11277600" cy="6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marL="0" indent="0" lvl="0">
              <a:spcBef>
                <a:spcPts val="0"/>
              </a:spcBef>
              <a:buNone/>
            </a:pPr>
            <a:r>
              <a:rPr lang="es-MX" sz="2600" b="1">
                <a:solidFill>
                  <a:srgbClr val="FFFFFF"/>
                </a:solidFill>
              </a:rPr>
              <a:t>Dónde estamos</a:t>
            </a:r>
          </a:p>
        </p:txBody>
      </p:sp>
      <p:sp>
        <p:nvSpPr>
          <p:cNvPr id="4" name="tb"/>
          <p:cNvSpPr>
            <a:spLocks noGrp="1"/>
          </p:cNvSpPr>
          <p:nvPr/>
        </p:nvSpPr>
        <p:spPr>
          <a:xfrm>
            <a:off x="609600" y="1250000"/>
            <a:ext cx="10972800" cy="53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Base actual: ~60–70 alumnos activos.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53 inscritos en 2026 (ene–ago).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Mensualidad $800 · sin inscripción · grupos de máx. 12.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Presupuesto: $10,000/mes (~$5,000 en Meta).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Ya existe pauta, contenido, activaciones y un rediseño de comunicación.</a:t>
            </a:r>
          </a:p>
        </p:txBody>
      </p:sp>
    </p:spTree>
  </p:cSld>
  <p:clrMapOvr>
    <a:override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"/>
          <p:cNvSpPr>
            <a:spLocks noGrp="1"/>
          </p:cNvSpPr>
          <p:nvPr/>
        </p:nvSpPr>
        <p:spPr>
          <a:xfrm>
            <a:off x="457200" y="180000"/>
            <a:ext cx="11277600" cy="6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marL="0" indent="0" lvl="0">
              <a:spcBef>
                <a:spcPts val="0"/>
              </a:spcBef>
              <a:buNone/>
            </a:pPr>
            <a:r>
              <a:rPr lang="es-MX" sz="2600" b="1">
                <a:solidFill>
                  <a:srgbClr val="FFFFFF"/>
                </a:solidFill>
              </a:rPr>
              <a:t>El reto</a:t>
            </a:r>
          </a:p>
        </p:txBody>
      </p:sp>
      <p:sp>
        <p:nvSpPr>
          <p:cNvPr id="4" name="tb"/>
          <p:cNvSpPr>
            <a:spLocks noGrp="1"/>
          </p:cNvSpPr>
          <p:nvPr/>
        </p:nvSpPr>
        <p:spPr>
          <a:xfrm>
            <a:off x="609600" y="2400000"/>
            <a:ext cx="10972800" cy="300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s-MX" sz="4400" b="1">
                <a:solidFill>
                  <a:srgbClr val="1F3864"/>
                </a:solidFill>
              </a:rPr>
              <a:t>De ~65 a 100–120 alumnos</a:t>
            </a:r>
          </a:p>
          <a:p>
            <a:pPr marL="0" indent="0" lvl="0" algn="ctr">
              <a:spcBef>
                <a:spcPts val="1200"/>
              </a:spcBef>
              <a:buNone/>
            </a:pPr>
            <a:r>
              <a:rPr lang="es-MX" sz="2000">
                <a:solidFill>
                  <a:srgbClr val="595959"/>
                </a:solidFill>
              </a:rPr>
              <a:t>Crecer +50% a +85% antes del cierre de 2026</a:t>
            </a:r>
          </a:p>
        </p:txBody>
      </p:sp>
    </p:spTree>
  </p:cSld>
  <p:clrMapOvr>
    <a:override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"/>
          <p:cNvSpPr>
            <a:spLocks noGrp="1"/>
          </p:cNvSpPr>
          <p:nvPr/>
        </p:nvSpPr>
        <p:spPr>
          <a:xfrm>
            <a:off x="457200" y="180000"/>
            <a:ext cx="11277600" cy="6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marL="0" indent="0" lvl="0">
              <a:spcBef>
                <a:spcPts val="0"/>
              </a:spcBef>
              <a:buNone/>
            </a:pPr>
            <a:r>
              <a:rPr lang="es-MX" sz="2600" b="1">
                <a:solidFill>
                  <a:srgbClr val="FFFFFF"/>
                </a:solidFill>
              </a:rPr>
              <a:t>Objetivos rectores</a:t>
            </a:r>
          </a:p>
        </p:txBody>
      </p:sp>
      <p:sp>
        <p:nvSpPr>
          <p:cNvPr id="4" name="tb"/>
          <p:cNvSpPr>
            <a:spLocks noGrp="1"/>
          </p:cNvSpPr>
          <p:nvPr/>
        </p:nvSpPr>
        <p:spPr>
          <a:xfrm>
            <a:off x="609600" y="1250000"/>
            <a:ext cx="10972800" cy="53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0" indent="0" lvl="0">
              <a:spcBef>
                <a:spcPts val="800"/>
              </a:spcBef>
              <a:buNone/>
            </a:pPr>
            <a:r>
              <a:rPr lang="es-MX" sz="1800" b="1">
                <a:solidFill>
                  <a:srgbClr val="1F3864"/>
                </a:solidFill>
              </a:rPr>
              <a:t>Dos motores que se retroalimentan: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ATRACCIÓN: leads → conversaciones → clases muestra → nuevos alumnos.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FIDELIZACIÓN: experiencia → permanencia → continuidad → referidos.</a:t>
            </a:r>
          </a:p>
          <a:p>
            <a:pPr marL="617538" indent="-274638" lvl="1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Los referidos reconectan la fidelización con la atracción.</a:t>
            </a:r>
          </a:p>
        </p:txBody>
      </p:sp>
    </p:spTree>
  </p:cSld>
  <p:clrMapOvr>
    <a:override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"/>
          <p:cNvSpPr>
            <a:spLocks noGrp="1"/>
          </p:cNvSpPr>
          <p:nvPr/>
        </p:nvSpPr>
        <p:spPr>
          <a:xfrm>
            <a:off x="457200" y="180000"/>
            <a:ext cx="11277600" cy="6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marL="0" indent="0" lvl="0">
              <a:spcBef>
                <a:spcPts val="0"/>
              </a:spcBef>
              <a:buNone/>
            </a:pPr>
            <a:r>
              <a:rPr lang="es-MX" sz="2600" b="1">
                <a:solidFill>
                  <a:srgbClr val="FFFFFF"/>
                </a:solidFill>
              </a:rPr>
              <a:t>Modelo de crecimiento</a:t>
            </a:r>
          </a:p>
        </p:txBody>
      </p:sp>
      <p:sp>
        <p:nvSpPr>
          <p:cNvPr id="4" name="tb"/>
          <p:cNvSpPr>
            <a:spLocks noGrp="1"/>
          </p:cNvSpPr>
          <p:nvPr/>
        </p:nvSpPr>
        <p:spPr>
          <a:xfrm>
            <a:off x="609600" y="1250000"/>
            <a:ext cx="10972800" cy="53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El marketing no es “redes + anuncios”, es un sistema:</a:t>
            </a:r>
          </a:p>
          <a:p>
            <a:pPr marL="617538" indent="-274638" lvl="1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Marketing genera demanda.</a:t>
            </a:r>
          </a:p>
          <a:p>
            <a:pPr marL="617538" indent="-274638" lvl="1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Ventas (WhatsApp) identifica y recomienda producto.</a:t>
            </a:r>
          </a:p>
          <a:p>
            <a:pPr marL="617538" indent="-274638" lvl="1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La clase muestra confirma la promesa.</a:t>
            </a:r>
          </a:p>
          <a:p>
            <a:pPr marL="617538" indent="-274638" lvl="1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La retención genera valor y referidos.</a:t>
            </a:r>
          </a:p>
          <a:p>
            <a:pPr marL="617538" indent="-274638" lvl="1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La capacidad operativa define cuánto podemos crecer.</a:t>
            </a:r>
          </a:p>
        </p:txBody>
      </p:sp>
    </p:spTree>
  </p:cSld>
  <p:clrMapOvr>
    <a:override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"/>
          <p:cNvSpPr>
            <a:spLocks noGrp="1"/>
          </p:cNvSpPr>
          <p:nvPr/>
        </p:nvSpPr>
        <p:spPr>
          <a:xfrm>
            <a:off x="457200" y="180000"/>
            <a:ext cx="11277600" cy="6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marL="0" indent="0" lvl="0">
              <a:spcBef>
                <a:spcPts val="0"/>
              </a:spcBef>
              <a:buNone/>
            </a:pPr>
            <a:r>
              <a:rPr lang="es-MX" sz="2600" b="1">
                <a:solidFill>
                  <a:srgbClr val="FFFFFF"/>
                </a:solidFill>
              </a:rPr>
              <a:t>Diagnóstico: el embudo real (mayo + julio)</a:t>
            </a:r>
          </a:p>
        </p:txBody>
      </p:sp>
      <p:graphicFrame>
        <p:nvGraphicFramePr>
          <p:cNvPr id="4" name="t"/>
          <p:cNvGraphicFramePr/>
          <p:nvPr/>
        </p:nvGraphicFramePr>
        <p:xfrm>
          <a:off x="609600" y="1350000"/>
          <a:ext cx="10972800" cy="0"/>
        </p:xfrm>
        <a:graphic>
          <a:graphicData uri="http://schemas.openxmlformats.org/drawingml/2006/table">
            <a:tbl>
              <a:tblPr firstRow="1" bandRow="1"/>
              <a:tblGrid>
                <a:gridCol w="3657600"/>
                <a:gridCol w="2438400"/>
                <a:gridCol w="4876800"/>
              </a:tblGrid>
              <a:tr h="520000"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FFFFFF"/>
                          </a:solidFill>
                        </a:rPr>
                        <a:t>Etapa</a:t>
                      </a:r>
                    </a:p>
                  </a:txBody>
                  <a:tcPr marL="45720" marR="45720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FFFFFF"/>
                          </a:solidFill>
                        </a:rPr>
                        <a:t>Cantidad</a:t>
                      </a:r>
                    </a:p>
                  </a:txBody>
                  <a:tcPr marL="45720" marR="45720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FFFFFF"/>
                          </a:solidFill>
                        </a:rPr>
                        <a:t>Tasa</a:t>
                      </a:r>
                    </a:p>
                  </a:txBody>
                  <a:tcPr marL="45720" marR="45720" marT="22860" marB="22860" anchor="ctr">
                    <a:solidFill>
                      <a:srgbClr val="1F3864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000000"/>
                          </a:solidFill>
                        </a:rPr>
                        <a:t>Conversaciones / leads</a:t>
                      </a:r>
                    </a:p>
                  </a:txBody>
                  <a:tcPr marL="45720" marR="45720" marT="22860" marB="2286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436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100%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000000"/>
                          </a:solidFill>
                        </a:rPr>
                        <a:t>Clase muestra agendada</a:t>
                      </a:r>
                    </a:p>
                  </a:txBody>
                  <a:tcPr marL="45720" marR="45720" marT="22860" marB="2286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66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15%  ← cuello de botella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000000"/>
                          </a:solidFill>
                        </a:rPr>
                        <a:t>Clase muestra efectiva</a:t>
                      </a:r>
                    </a:p>
                  </a:txBody>
                  <a:tcPr marL="45720" marR="45720" marT="22860" marB="2286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47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71% de agendadas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000000"/>
                          </a:solidFill>
                        </a:rPr>
                        <a:t>Inscritos</a:t>
                      </a:r>
                    </a:p>
                  </a:txBody>
                  <a:tcPr marL="45720" marR="45720" marT="22860" marB="2286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34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72% de efectivas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b"/>
          <p:cNvSpPr>
            <a:spLocks noGrp="1"/>
          </p:cNvSpPr>
          <p:nvPr/>
        </p:nvSpPr>
        <p:spPr>
          <a:xfrm>
            <a:off x="609600" y="6100000"/>
            <a:ext cx="10972800" cy="6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0" indent="0" lvl="0">
              <a:spcBef>
                <a:spcPts val="0"/>
              </a:spcBef>
              <a:buNone/>
            </a:pPr>
            <a:r>
              <a:rPr lang="es-MX" sz="1300" i="1">
                <a:solidFill>
                  <a:srgbClr val="595959"/>
                </a:solidFill>
              </a:rPr>
              <a:t>El cierre es excelente (72%). La fuga está antes: solo 15% agenda clase muestra.</a:t>
            </a:r>
          </a:p>
        </p:txBody>
      </p:sp>
    </p:spTree>
  </p:cSld>
  <p:clrMapOvr>
    <a:override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"/>
          <p:cNvSpPr>
            <a:spLocks noGrp="1"/>
          </p:cNvSpPr>
          <p:nvPr/>
        </p:nvSpPr>
        <p:spPr>
          <a:xfrm>
            <a:off x="457200" y="180000"/>
            <a:ext cx="11277600" cy="6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marL="0" indent="0" lvl="0">
              <a:spcBef>
                <a:spcPts val="0"/>
              </a:spcBef>
              <a:buNone/>
            </a:pPr>
            <a:r>
              <a:rPr lang="es-MX" sz="2600" b="1">
                <a:solidFill>
                  <a:srgbClr val="FFFFFF"/>
                </a:solidFill>
              </a:rPr>
              <a:t>Principales oportunidades</a:t>
            </a:r>
          </a:p>
        </p:txBody>
      </p:sp>
      <p:sp>
        <p:nvSpPr>
          <p:cNvPr id="4" name="tb"/>
          <p:cNvSpPr>
            <a:spLocks noGrp="1"/>
          </p:cNvSpPr>
          <p:nvPr/>
        </p:nvSpPr>
        <p:spPr>
          <a:xfrm>
            <a:off x="609600" y="1250000"/>
            <a:ext cx="10972800" cy="53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Subir Lead→Clase muestra del 15% al ~22% (sin más pauta).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Reactivar leads históricos ya pagados.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Escalar el Reel testimonial (50% de los leads de julio).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Referidos como canal formal.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Continuidad KugelCamp→Kids y Parenthood a padres actuales.</a:t>
            </a:r>
          </a:p>
        </p:txBody>
      </p:sp>
    </p:spTree>
  </p:cSld>
  <p:clrMapOvr>
    <a:override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"/>
          <p:cNvSpPr>
            <a:spLocks noGrp="1"/>
          </p:cNvSpPr>
          <p:nvPr/>
        </p:nvSpPr>
        <p:spPr>
          <a:xfrm>
            <a:off x="457200" y="180000"/>
            <a:ext cx="11277600" cy="6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marL="0" indent="0" lvl="0">
              <a:spcBef>
                <a:spcPts val="0"/>
              </a:spcBef>
              <a:buNone/>
            </a:pPr>
            <a:r>
              <a:rPr lang="es-MX" sz="2600" b="1">
                <a:solidFill>
                  <a:srgbClr val="FFFFFF"/>
                </a:solidFill>
              </a:rPr>
              <a:t>Qué mantenemos del plan actual</a:t>
            </a:r>
          </a:p>
        </p:txBody>
      </p:sp>
      <p:sp>
        <p:nvSpPr>
          <p:cNvPr id="4" name="tb"/>
          <p:cNvSpPr>
            <a:spLocks noGrp="1"/>
          </p:cNvSpPr>
          <p:nvPr/>
        </p:nvSpPr>
        <p:spPr>
          <a:xfrm>
            <a:off x="609600" y="1250000"/>
            <a:ext cx="10972800" cy="53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Campaña pagada estructurada en Meta.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Video / Reel testimonial como formato estrella.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Clase muestra como mecanismo de conversión.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Los 6 pilares de contenido del rediseño.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Activaciones frente a escuelas.</a:t>
            </a:r>
          </a:p>
        </p:txBody>
      </p:sp>
    </p:spTree>
  </p:cSld>
  <p:clrMapOvr>
    <a:override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"/>
          <p:cNvSpPr>
            <a:spLocks noGrp="1"/>
          </p:cNvSpPr>
          <p:nvPr/>
        </p:nvSpPr>
        <p:spPr>
          <a:xfrm>
            <a:off x="457200" y="180000"/>
            <a:ext cx="11277600" cy="6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marL="0" indent="0" lvl="0">
              <a:spcBef>
                <a:spcPts val="0"/>
              </a:spcBef>
              <a:buNone/>
            </a:pPr>
            <a:r>
              <a:rPr lang="es-MX" sz="2600" b="1">
                <a:solidFill>
                  <a:srgbClr val="FFFFFF"/>
                </a:solidFill>
              </a:rPr>
              <a:t>Qué mejoramos</a:t>
            </a:r>
          </a:p>
        </p:txBody>
      </p:sp>
      <p:sp>
        <p:nvSpPr>
          <p:cNvPr id="4" name="tb"/>
          <p:cNvSpPr>
            <a:spLocks noGrp="1"/>
          </p:cNvSpPr>
          <p:nvPr/>
        </p:nvSpPr>
        <p:spPr>
          <a:xfrm>
            <a:off x="609600" y="1250000"/>
            <a:ext cx="10972800" cy="53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Seguimiento en WhatsApp (el cuello de botella).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Segmentación de campañas por producto.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Remarketing a quien ya interactuó.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Medición de canales físicos (QR + UTM).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Etiquetado del tracker de leads.</a:t>
            </a:r>
          </a:p>
        </p:txBody>
      </p:sp>
    </p:spTree>
  </p:cSld>
  <p:clrMapOvr>
    <a:override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"/>
          <p:cNvSpPr>
            <a:spLocks noGrp="1"/>
          </p:cNvSpPr>
          <p:nvPr/>
        </p:nvSpPr>
        <p:spPr>
          <a:xfrm>
            <a:off x="457200" y="180000"/>
            <a:ext cx="11277600" cy="6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marL="0" indent="0" lvl="0">
              <a:spcBef>
                <a:spcPts val="0"/>
              </a:spcBef>
              <a:buNone/>
            </a:pPr>
            <a:r>
              <a:rPr lang="es-MX" sz="2600" b="1">
                <a:solidFill>
                  <a:srgbClr val="FFFFFF"/>
                </a:solidFill>
              </a:rPr>
              <a:t>Qué replanteamos</a:t>
            </a:r>
          </a:p>
        </p:txBody>
      </p:sp>
      <p:sp>
        <p:nvSpPr>
          <p:cNvPr id="4" name="tb"/>
          <p:cNvSpPr>
            <a:spLocks noGrp="1"/>
          </p:cNvSpPr>
          <p:nvPr/>
        </p:nvSpPr>
        <p:spPr>
          <a:xfrm>
            <a:off x="609600" y="1250000"/>
            <a:ext cx="10972800" cy="53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Incentivo de referidos: sin descontar el precio de lista.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Posicionamiento por “precio más bajo” → competir por valor.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Alianzas comerciales: con objetivo y KPI concretos.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Meta única: definir 100 vs 120.</a:t>
            </a:r>
          </a:p>
          <a:p>
            <a:pPr marL="0" indent="0" lvl="0">
              <a:spcBef>
                <a:spcPts val="800"/>
              </a:spcBef>
              <a:buNone/>
            </a:pPr>
            <a:r>
              <a:rPr lang="es-MX" sz="1800" b="1">
                <a:solidFill>
                  <a:srgbClr val="1F3864"/>
                </a:solidFill>
              </a:rPr>
              <a:t>Detener: “inscripción gratis” (no existe inscripción).</a:t>
            </a:r>
          </a:p>
        </p:txBody>
      </p:sp>
    </p:spTree>
  </p:cSld>
  <p:clrMapOvr>
    <a:override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"/>
          <p:cNvSpPr>
            <a:spLocks noGrp="1"/>
          </p:cNvSpPr>
          <p:nvPr/>
        </p:nvSpPr>
        <p:spPr>
          <a:xfrm>
            <a:off x="457200" y="180000"/>
            <a:ext cx="11277600" cy="6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marL="0" indent="0" lvl="0">
              <a:spcBef>
                <a:spcPts val="0"/>
              </a:spcBef>
              <a:buNone/>
            </a:pPr>
            <a:r>
              <a:rPr lang="es-MX" sz="2600" b="1">
                <a:solidFill>
                  <a:srgbClr val="FFFFFF"/>
                </a:solidFill>
              </a:rPr>
              <a:t>Nuevas estrategias</a:t>
            </a:r>
          </a:p>
        </p:txBody>
      </p:sp>
      <p:sp>
        <p:nvSpPr>
          <p:cNvPr id="4" name="tb"/>
          <p:cNvSpPr>
            <a:spLocks noGrp="1"/>
          </p:cNvSpPr>
          <p:nvPr/>
        </p:nvSpPr>
        <p:spPr>
          <a:xfrm>
            <a:off x="609600" y="1250000"/>
            <a:ext cx="10972800" cy="53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Proceso comercial de WhatsApp orientado a clase muestra.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Flujo de reactivación de leads y bajas.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Programa de referidos con incentivo sano.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Sistema de alertas de abandono.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Trazabilidad completa (píxel, UTMs, QR, dashboard).</a:t>
            </a:r>
          </a:p>
        </p:txBody>
      </p:sp>
    </p:spTree>
  </p:cSld>
  <p:clrMapOvr>
    <a:override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"/>
          <p:cNvSpPr>
            <a:spLocks noGrp="1"/>
          </p:cNvSpPr>
          <p:nvPr/>
        </p:nvSpPr>
        <p:spPr>
          <a:xfrm>
            <a:off x="457200" y="180000"/>
            <a:ext cx="11277600" cy="6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marL="0" indent="0" lvl="0">
              <a:spcBef>
                <a:spcPts val="0"/>
              </a:spcBef>
              <a:buNone/>
            </a:pPr>
            <a:r>
              <a:rPr lang="es-MX" sz="2600" b="1">
                <a:solidFill>
                  <a:srgbClr val="FFFFFF"/>
                </a:solidFill>
              </a:rPr>
              <a:t>Prioridades</a:t>
            </a:r>
          </a:p>
        </p:txBody>
      </p:sp>
      <p:sp>
        <p:nvSpPr>
          <p:cNvPr id="4" name="tb"/>
          <p:cNvSpPr>
            <a:spLocks noGrp="1"/>
          </p:cNvSpPr>
          <p:nvPr/>
        </p:nvSpPr>
        <p:spPr>
          <a:xfrm>
            <a:off x="609600" y="1250000"/>
            <a:ext cx="10972800" cy="53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0" indent="0" lvl="0">
              <a:spcBef>
                <a:spcPts val="800"/>
              </a:spcBef>
              <a:buNone/>
            </a:pPr>
            <a:r>
              <a:rPr lang="es-MX" sz="1800" b="1">
                <a:solidFill>
                  <a:srgbClr val="1F3864"/>
                </a:solidFill>
              </a:rPr>
              <a:t>P0 (crítico, ya):</a:t>
            </a:r>
          </a:p>
          <a:p>
            <a:pPr marL="617538" indent="-274638" lvl="1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Proceso WhatsApp · Medición/dashboard · Reactivación.</a:t>
            </a:r>
          </a:p>
          <a:p>
            <a:pPr marL="0" indent="0" lvl="0">
              <a:spcBef>
                <a:spcPts val="800"/>
              </a:spcBef>
              <a:buNone/>
            </a:pPr>
            <a:r>
              <a:rPr lang="es-MX" sz="1800" b="1">
                <a:solidFill>
                  <a:srgbClr val="1F3864"/>
                </a:solidFill>
              </a:rPr>
              <a:t>P1 (alto):</a:t>
            </a:r>
          </a:p>
          <a:p>
            <a:pPr marL="617538" indent="-274638" lvl="1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Campañas segmentadas + remarketing · 6 pilares · Referidos.</a:t>
            </a:r>
          </a:p>
          <a:p>
            <a:pPr marL="0" indent="0" lvl="0">
              <a:spcBef>
                <a:spcPts val="800"/>
              </a:spcBef>
              <a:buNone/>
            </a:pPr>
            <a:r>
              <a:rPr lang="es-MX" sz="1800" b="1">
                <a:solidFill>
                  <a:srgbClr val="1F3864"/>
                </a:solidFill>
              </a:rPr>
              <a:t>P2 (después):</a:t>
            </a:r>
          </a:p>
          <a:p>
            <a:pPr marL="617538" indent="-274638" lvl="1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Continuidad/cross-sell · Alianzas con foco.</a:t>
            </a:r>
          </a:p>
        </p:txBody>
      </p:sp>
    </p:spTree>
  </p:cSld>
  <p:clrMapOvr>
    <a:override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"/>
          <p:cNvSpPr>
            <a:spLocks noGrp="1"/>
          </p:cNvSpPr>
          <p:nvPr/>
        </p:nvSpPr>
        <p:spPr>
          <a:xfrm>
            <a:off x="457200" y="180000"/>
            <a:ext cx="11277600" cy="6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marL="0" indent="0" lvl="0">
              <a:spcBef>
                <a:spcPts val="0"/>
              </a:spcBef>
              <a:buNone/>
            </a:pPr>
            <a:r>
              <a:rPr lang="es-MX" sz="2600" b="1">
                <a:solidFill>
                  <a:srgbClr val="FFFFFF"/>
                </a:solidFill>
              </a:rPr>
              <a:t>Septiembre: preparación</a:t>
            </a:r>
          </a:p>
        </p:txBody>
      </p:sp>
      <p:sp>
        <p:nvSpPr>
          <p:cNvPr id="4" name="tb"/>
          <p:cNvSpPr>
            <a:spLocks noGrp="1"/>
          </p:cNvSpPr>
          <p:nvPr/>
        </p:nvSpPr>
        <p:spPr>
          <a:xfrm>
            <a:off x="609600" y="1250000"/>
            <a:ext cx="10972800" cy="53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0" indent="0" lvl="0">
              <a:spcBef>
                <a:spcPts val="0"/>
              </a:spcBef>
              <a:buNone/>
            </a:pPr>
            <a:r>
              <a:rPr lang="es-MX" sz="1600" b="1">
                <a:solidFill>
                  <a:srgbClr val="2F5597"/>
                </a:solidFill>
              </a:rPr>
              <a:t>“Construir la maquinaria”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Construir la maquinaria (no es el arranque formal).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Levantar datos: capacidad, churn, alumnos por producto.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Diseñar proceso de WhatsApp + banco de reels.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Configurar medición y dashboard.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Meta del mes: Lead→Clase muestra de 15% a ≥20%.</a:t>
            </a:r>
          </a:p>
        </p:txBody>
      </p:sp>
    </p:spTree>
  </p:cSld>
  <p:clrMapOvr>
    <a:override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"/>
          <p:cNvSpPr>
            <a:spLocks noGrp="1"/>
          </p:cNvSpPr>
          <p:nvPr/>
        </p:nvSpPr>
        <p:spPr>
          <a:xfrm>
            <a:off x="457200" y="180000"/>
            <a:ext cx="11277600" cy="6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marL="0" indent="0" lvl="0">
              <a:spcBef>
                <a:spcPts val="0"/>
              </a:spcBef>
              <a:buNone/>
            </a:pPr>
            <a:r>
              <a:rPr lang="es-MX" sz="2600" b="1">
                <a:solidFill>
                  <a:srgbClr val="FFFFFF"/>
                </a:solidFill>
              </a:rPr>
              <a:t>Roadmap septiembre – diciembre</a:t>
            </a:r>
          </a:p>
        </p:txBody>
      </p:sp>
      <p:graphicFrame>
        <p:nvGraphicFramePr>
          <p:cNvPr id="4" name="t"/>
          <p:cNvGraphicFramePr/>
          <p:nvPr/>
        </p:nvGraphicFramePr>
        <p:xfrm>
          <a:off x="609600" y="1350000"/>
          <a:ext cx="10972800" cy="0"/>
        </p:xfrm>
        <a:graphic>
          <a:graphicData uri="http://schemas.openxmlformats.org/drawingml/2006/table">
            <a:tbl>
              <a:tblPr firstRow="1" bandRow="1"/>
              <a:tblGrid>
                <a:gridCol w="2438400"/>
                <a:gridCol w="2438400"/>
                <a:gridCol w="6096000"/>
              </a:tblGrid>
              <a:tr h="520000"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FFFFFF"/>
                          </a:solidFill>
                        </a:rPr>
                        <a:t>Mes</a:t>
                      </a:r>
                    </a:p>
                  </a:txBody>
                  <a:tcPr marL="45720" marR="45720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FFFFFF"/>
                          </a:solidFill>
                        </a:rPr>
                        <a:t>Rol</a:t>
                      </a:r>
                    </a:p>
                  </a:txBody>
                  <a:tcPr marL="45720" marR="45720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FFFFFF"/>
                          </a:solidFill>
                        </a:rPr>
                        <a:t>Foco</a:t>
                      </a:r>
                    </a:p>
                  </a:txBody>
                  <a:tcPr marL="45720" marR="45720" marT="22860" marB="22860" anchor="ctr">
                    <a:solidFill>
                      <a:srgbClr val="1F3864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000000"/>
                          </a:solidFill>
                        </a:rPr>
                        <a:t>Septiembre</a:t>
                      </a:r>
                    </a:p>
                  </a:txBody>
                  <a:tcPr marL="45720" marR="45720" marT="22860" marB="2286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Construir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Proceso, medición, contenido, datos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000000"/>
                          </a:solidFill>
                        </a:rPr>
                        <a:t>Octubre</a:t>
                      </a:r>
                    </a:p>
                  </a:txBody>
                  <a:tcPr marL="45720" marR="45720" marT="22860" marB="2286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Operar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Campañas segmentadas, WhatsApp, referidos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000000"/>
                          </a:solidFill>
                        </a:rPr>
                        <a:t>Noviembre</a:t>
                      </a:r>
                    </a:p>
                  </a:txBody>
                  <a:tcPr marL="45720" marR="45720" marT="22860" marB="2286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Optimizar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Escalar lo que convierte · Buen Fin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000000"/>
                          </a:solidFill>
                        </a:rPr>
                        <a:t>Diciembre</a:t>
                      </a:r>
                    </a:p>
                  </a:txBody>
                  <a:tcPr marL="45720" marR="45720" marT="22860" marB="2286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Cerrar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Retención, renovación, preparar 2027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override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"/>
          <p:cNvSpPr>
            <a:spLocks noGrp="1"/>
          </p:cNvSpPr>
          <p:nvPr/>
        </p:nvSpPr>
        <p:spPr>
          <a:xfrm>
            <a:off x="457200" y="180000"/>
            <a:ext cx="11277600" cy="6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marL="0" indent="0" lvl="0">
              <a:spcBef>
                <a:spcPts val="0"/>
              </a:spcBef>
              <a:buNone/>
            </a:pPr>
            <a:r>
              <a:rPr lang="es-MX" sz="2600" b="1">
                <a:solidFill>
                  <a:srgbClr val="FFFFFF"/>
                </a:solidFill>
              </a:rPr>
              <a:t>Octubre: ejecución formal</a:t>
            </a:r>
          </a:p>
        </p:txBody>
      </p:sp>
      <p:sp>
        <p:nvSpPr>
          <p:cNvPr id="4" name="tb"/>
          <p:cNvSpPr>
            <a:spLocks noGrp="1"/>
          </p:cNvSpPr>
          <p:nvPr/>
        </p:nvSpPr>
        <p:spPr>
          <a:xfrm>
            <a:off x="609600" y="1250000"/>
            <a:ext cx="10972800" cy="53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Campañas Meta segmentadas por producto + remarketing.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Contenido de 6 pilares publicándose con calendario.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WhatsApp con SLA y seguimiento medido.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Referidos y reactivación operando.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Dashboard + reunión semanal en marcha.</a:t>
            </a:r>
          </a:p>
        </p:txBody>
      </p:sp>
    </p:spTree>
  </p:cSld>
  <p:clrMapOvr>
    <a:override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"/>
          <p:cNvSpPr>
            <a:spLocks noGrp="1"/>
          </p:cNvSpPr>
          <p:nvPr/>
        </p:nvSpPr>
        <p:spPr>
          <a:xfrm>
            <a:off x="457200" y="180000"/>
            <a:ext cx="11277600" cy="6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marL="0" indent="0" lvl="0">
              <a:spcBef>
                <a:spcPts val="0"/>
              </a:spcBef>
              <a:buNone/>
            </a:pPr>
            <a:r>
              <a:rPr lang="es-MX" sz="2600" b="1">
                <a:solidFill>
                  <a:srgbClr val="FFFFFF"/>
                </a:solidFill>
              </a:rPr>
              <a:t>Noviembre: optimización</a:t>
            </a:r>
          </a:p>
        </p:txBody>
      </p:sp>
      <p:sp>
        <p:nvSpPr>
          <p:cNvPr id="4" name="tb"/>
          <p:cNvSpPr>
            <a:spLocks noGrp="1"/>
          </p:cNvSpPr>
          <p:nvPr/>
        </p:nvSpPr>
        <p:spPr>
          <a:xfrm>
            <a:off x="609600" y="1250000"/>
            <a:ext cx="10972800" cy="53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Escalar solo lo que demostró convertir; cortar lo que no.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Buen Fin con beneficios reales y urgencia legítima.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Intensificar remarketing y reactivación.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Preparar el cierre de año.</a:t>
            </a:r>
          </a:p>
        </p:txBody>
      </p:sp>
    </p:spTree>
  </p:cSld>
  <p:clrMapOvr>
    <a:override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"/>
          <p:cNvSpPr>
            <a:spLocks noGrp="1"/>
          </p:cNvSpPr>
          <p:nvPr/>
        </p:nvSpPr>
        <p:spPr>
          <a:xfrm>
            <a:off x="457200" y="180000"/>
            <a:ext cx="11277600" cy="6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marL="0" indent="0" lvl="0">
              <a:spcBef>
                <a:spcPts val="0"/>
              </a:spcBef>
              <a:buNone/>
            </a:pPr>
            <a:r>
              <a:rPr lang="es-MX" sz="2600" b="1">
                <a:solidFill>
                  <a:srgbClr val="FFFFFF"/>
                </a:solidFill>
              </a:rPr>
              <a:t>Diciembre: cierre y fidelización</a:t>
            </a:r>
          </a:p>
        </p:txBody>
      </p:sp>
      <p:sp>
        <p:nvSpPr>
          <p:cNvPr id="4" name="tb"/>
          <p:cNvSpPr>
            <a:spLocks noGrp="1"/>
          </p:cNvSpPr>
          <p:nvPr/>
        </p:nvSpPr>
        <p:spPr>
          <a:xfrm>
            <a:off x="609600" y="1250000"/>
            <a:ext cx="10972800" cy="53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Renovación y retención de alumnos actuales.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Campaña “Nuevos objetivos 2027”.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Reactivación de bajas recientes.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Referidos de fin de año + evaluación anual.</a:t>
            </a:r>
          </a:p>
        </p:txBody>
      </p:sp>
    </p:spTree>
  </p:cSld>
  <p:clrMapOvr>
    <a:override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"/>
          <p:cNvSpPr>
            <a:spLocks noGrp="1"/>
          </p:cNvSpPr>
          <p:nvPr/>
        </p:nvSpPr>
        <p:spPr>
          <a:xfrm>
            <a:off x="457200" y="180000"/>
            <a:ext cx="11277600" cy="6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marL="0" indent="0" lvl="0">
              <a:spcBef>
                <a:spcPts val="0"/>
              </a:spcBef>
              <a:buNone/>
            </a:pPr>
            <a:r>
              <a:rPr lang="es-MX" sz="2600" b="1">
                <a:solidFill>
                  <a:srgbClr val="FFFFFF"/>
                </a:solidFill>
              </a:rPr>
              <a:t>Estrategia de atracción</a:t>
            </a:r>
          </a:p>
        </p:txBody>
      </p:sp>
      <p:sp>
        <p:nvSpPr>
          <p:cNvPr id="4" name="tb"/>
          <p:cNvSpPr>
            <a:spLocks noGrp="1"/>
          </p:cNvSpPr>
          <p:nvPr/>
        </p:nvSpPr>
        <p:spPr>
          <a:xfrm>
            <a:off x="609600" y="1250000"/>
            <a:ext cx="10972800" cy="53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Palanca 1 — Seguimiento WhatsApp (sin costo de medios).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Palanca 2 — Pauta: Reel testimonial + remarketing.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Palanca 3 — Reactivación de leads ya pagados.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Regla: no generar más demanda que la capacidad real.</a:t>
            </a:r>
          </a:p>
        </p:txBody>
      </p:sp>
    </p:spTree>
  </p:cSld>
  <p:clrMapOvr>
    <a:override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"/>
          <p:cNvSpPr>
            <a:spLocks noGrp="1"/>
          </p:cNvSpPr>
          <p:nvPr/>
        </p:nvSpPr>
        <p:spPr>
          <a:xfrm>
            <a:off x="457200" y="180000"/>
            <a:ext cx="11277600" cy="6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marL="0" indent="0" lvl="0">
              <a:spcBef>
                <a:spcPts val="0"/>
              </a:spcBef>
              <a:buNone/>
            </a:pPr>
            <a:r>
              <a:rPr lang="es-MX" sz="2600" b="1">
                <a:solidFill>
                  <a:srgbClr val="FFFFFF"/>
                </a:solidFill>
              </a:rPr>
              <a:t>Estrategia de fidelización</a:t>
            </a:r>
          </a:p>
        </p:txBody>
      </p:sp>
      <p:sp>
        <p:nvSpPr>
          <p:cNvPr id="4" name="tb"/>
          <p:cNvSpPr>
            <a:spLocks noGrp="1"/>
          </p:cNvSpPr>
          <p:nvPr/>
        </p:nvSpPr>
        <p:spPr>
          <a:xfrm>
            <a:off x="609600" y="1250000"/>
            <a:ext cx="10972800" cy="53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Onboarding cuidado en las primeras semanas.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Alertas de abandono (inasistencias, quejas, retrasos).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Comunidad y experiencias compartibles.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Continuidad entre productos del portafolio.</a:t>
            </a:r>
          </a:p>
        </p:txBody>
      </p:sp>
    </p:spTree>
  </p:cSld>
  <p:clrMapOvr>
    <a:override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"/>
          <p:cNvSpPr>
            <a:spLocks noGrp="1"/>
          </p:cNvSpPr>
          <p:nvPr/>
        </p:nvSpPr>
        <p:spPr>
          <a:xfrm>
            <a:off x="457200" y="180000"/>
            <a:ext cx="11277600" cy="6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marL="0" indent="0" lvl="0">
              <a:spcBef>
                <a:spcPts val="0"/>
              </a:spcBef>
              <a:buNone/>
            </a:pPr>
            <a:r>
              <a:rPr lang="es-MX" sz="2600" b="1">
                <a:solidFill>
                  <a:srgbClr val="FFFFFF"/>
                </a:solidFill>
              </a:rPr>
              <a:t>El funnel como sistema</a:t>
            </a:r>
          </a:p>
        </p:txBody>
      </p:sp>
      <p:sp>
        <p:nvSpPr>
          <p:cNvPr id="4" name="tb"/>
          <p:cNvSpPr>
            <a:spLocks noGrp="1"/>
          </p:cNvSpPr>
          <p:nvPr/>
        </p:nvSpPr>
        <p:spPr>
          <a:xfrm>
            <a:off x="609600" y="1250000"/>
            <a:ext cx="10972800" cy="53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Lead → Conversación → Clase muestra → Alumno → Experiencia → Referido.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Conversión = puente atracción→fidelización.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Referidos = puente fidelización→atracción.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Medimos cada paso y optimizamos el más débil.</a:t>
            </a:r>
          </a:p>
        </p:txBody>
      </p:sp>
    </p:spTree>
  </p:cSld>
  <p:clrMapOvr>
    <a:override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"/>
          <p:cNvSpPr>
            <a:spLocks noGrp="1"/>
          </p:cNvSpPr>
          <p:nvPr/>
        </p:nvSpPr>
        <p:spPr>
          <a:xfrm>
            <a:off x="457200" y="180000"/>
            <a:ext cx="11277600" cy="6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marL="0" indent="0" lvl="0">
              <a:spcBef>
                <a:spcPts val="0"/>
              </a:spcBef>
              <a:buNone/>
            </a:pPr>
            <a:r>
              <a:rPr lang="es-MX" sz="2600" b="1">
                <a:solidFill>
                  <a:srgbClr val="FFFFFF"/>
                </a:solidFill>
              </a:rPr>
              <a:t>Paid Media</a:t>
            </a:r>
          </a:p>
        </p:txBody>
      </p:sp>
      <p:graphicFrame>
        <p:nvGraphicFramePr>
          <p:cNvPr id="4" name="t"/>
          <p:cNvGraphicFramePr/>
          <p:nvPr/>
        </p:nvGraphicFramePr>
        <p:xfrm>
          <a:off x="609600" y="1350000"/>
          <a:ext cx="10972800" cy="0"/>
        </p:xfrm>
        <a:graphic>
          <a:graphicData uri="http://schemas.openxmlformats.org/drawingml/2006/table">
            <a:tbl>
              <a:tblPr firstRow="1" bandRow="1"/>
              <a:tblGrid>
                <a:gridCol w="2438400"/>
                <a:gridCol w="4876800"/>
                <a:gridCol w="3657600"/>
              </a:tblGrid>
              <a:tr h="520000"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FFFFFF"/>
                          </a:solidFill>
                        </a:rPr>
                        <a:t>Nivel</a:t>
                      </a:r>
                    </a:p>
                  </a:txBody>
                  <a:tcPr marL="45720" marR="45720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FFFFFF"/>
                          </a:solidFill>
                        </a:rPr>
                        <a:t>Objetivo</a:t>
                      </a:r>
                    </a:p>
                  </a:txBody>
                  <a:tcPr marL="45720" marR="45720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FFFFFF"/>
                          </a:solidFill>
                        </a:rPr>
                        <a:t>KPI</a:t>
                      </a:r>
                    </a:p>
                  </a:txBody>
                  <a:tcPr marL="45720" marR="45720" marT="22860" marB="22860" anchor="ctr">
                    <a:solidFill>
                      <a:srgbClr val="1F3864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000000"/>
                          </a:solidFill>
                        </a:rPr>
                        <a:t>TOFU</a:t>
                      </a:r>
                    </a:p>
                  </a:txBody>
                  <a:tcPr marL="45720" marR="45720" marT="22860" marB="2286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Alcance / demanda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CPL, alcance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000000"/>
                          </a:solidFill>
                        </a:rPr>
                        <a:t>MOFU</a:t>
                      </a:r>
                    </a:p>
                  </a:txBody>
                  <a:tcPr marL="45720" marR="45720" marT="22860" marB="2286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Consideración / remarketing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CTR, conversaciones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000000"/>
                          </a:solidFill>
                        </a:rPr>
                        <a:t>BOFU</a:t>
                      </a:r>
                    </a:p>
                  </a:txBody>
                  <a:tcPr marL="45720" marR="45720" marT="22860" marB="2286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Conversión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CM agendadas, CAC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b"/>
          <p:cNvSpPr>
            <a:spLocks noGrp="1"/>
          </p:cNvSpPr>
          <p:nvPr/>
        </p:nvSpPr>
        <p:spPr>
          <a:xfrm>
            <a:off x="609600" y="6100000"/>
            <a:ext cx="10972800" cy="6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0" indent="0" lvl="0">
              <a:spcBef>
                <a:spcPts val="0"/>
              </a:spcBef>
              <a:buNone/>
            </a:pPr>
            <a:r>
              <a:rPr lang="es-MX" sz="1300" i="1">
                <a:solidFill>
                  <a:srgbClr val="595959"/>
                </a:solidFill>
              </a:rPr>
              <a:t>CPL actual $23.80 · CAC (solo pauta) ~$312–357. Confirmar capacidad antes de escalar.</a:t>
            </a:r>
          </a:p>
        </p:txBody>
      </p:sp>
    </p:spTree>
  </p:cSld>
  <p:clrMapOvr>
    <a:override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"/>
          <p:cNvSpPr>
            <a:spLocks noGrp="1"/>
          </p:cNvSpPr>
          <p:nvPr/>
        </p:nvSpPr>
        <p:spPr>
          <a:xfrm>
            <a:off x="457200" y="180000"/>
            <a:ext cx="11277600" cy="6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marL="0" indent="0" lvl="0">
              <a:spcBef>
                <a:spcPts val="0"/>
              </a:spcBef>
              <a:buNone/>
            </a:pPr>
            <a:r>
              <a:rPr lang="es-MX" sz="2600" b="1">
                <a:solidFill>
                  <a:srgbClr val="FFFFFF"/>
                </a:solidFill>
              </a:rPr>
              <a:t>Contenido</a:t>
            </a:r>
          </a:p>
        </p:txBody>
      </p:sp>
      <p:sp>
        <p:nvSpPr>
          <p:cNvPr id="4" name="tb"/>
          <p:cNvSpPr>
            <a:spLocks noGrp="1"/>
          </p:cNvSpPr>
          <p:nvPr/>
        </p:nvSpPr>
        <p:spPr>
          <a:xfrm>
            <a:off x="609600" y="1250000"/>
            <a:ext cx="10972800" cy="53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6 pilares: Método, Cultura Pop, Experiencia, Comercial, Meme, Aplicaciones.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Distribución: 40% atracción / 25% educación / 20% conexión / 15% conversión.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Formato prioritario probado: Reel testimonial.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Cada pieza con objetivo, CTA y KPI (nada por llenar espacio).</a:t>
            </a:r>
          </a:p>
        </p:txBody>
      </p:sp>
    </p:spTree>
  </p:cSld>
  <p:clrMapOvr>
    <a:override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"/>
          <p:cNvSpPr>
            <a:spLocks noGrp="1"/>
          </p:cNvSpPr>
          <p:nvPr/>
        </p:nvSpPr>
        <p:spPr>
          <a:xfrm>
            <a:off x="457200" y="180000"/>
            <a:ext cx="11277600" cy="6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marL="0" indent="0" lvl="0">
              <a:spcBef>
                <a:spcPts val="0"/>
              </a:spcBef>
              <a:buNone/>
            </a:pPr>
            <a:r>
              <a:rPr lang="es-MX" sz="2600" b="1">
                <a:solidFill>
                  <a:srgbClr val="FFFFFF"/>
                </a:solidFill>
              </a:rPr>
              <a:t>WhatsApp y ventas</a:t>
            </a:r>
          </a:p>
        </p:txBody>
      </p:sp>
      <p:sp>
        <p:nvSpPr>
          <p:cNvPr id="4" name="tb"/>
          <p:cNvSpPr>
            <a:spLocks noGrp="1"/>
          </p:cNvSpPr>
          <p:nvPr/>
        </p:nvSpPr>
        <p:spPr>
          <a:xfrm>
            <a:off x="609600" y="1250000"/>
            <a:ext cx="10972800" cy="53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Flujo: Lead → Respuesta (SLA) → Diagnóstico → Clase muestra → Cierre.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El 50% de los leads muere en “Información enviada”.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Script orientado a AGENDAR, no a “mandar info y esperar”.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Plantillas por producto + secuencia día 0/1/3/7.</a:t>
            </a:r>
          </a:p>
        </p:txBody>
      </p:sp>
    </p:spTree>
  </p:cSld>
  <p:clrMapOvr>
    <a:override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"/>
          <p:cNvSpPr>
            <a:spLocks noGrp="1"/>
          </p:cNvSpPr>
          <p:nvPr/>
        </p:nvSpPr>
        <p:spPr>
          <a:xfrm>
            <a:off x="457200" y="180000"/>
            <a:ext cx="11277600" cy="6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marL="0" indent="0" lvl="0">
              <a:spcBef>
                <a:spcPts val="0"/>
              </a:spcBef>
              <a:buNone/>
            </a:pPr>
            <a:r>
              <a:rPr lang="es-MX" sz="2600" b="1">
                <a:solidFill>
                  <a:srgbClr val="FFFFFF"/>
                </a:solidFill>
              </a:rPr>
              <a:t>Referidos y reactivación</a:t>
            </a:r>
          </a:p>
        </p:txBody>
      </p:sp>
      <p:sp>
        <p:nvSpPr>
          <p:cNvPr id="4" name="tb"/>
          <p:cNvSpPr>
            <a:spLocks noGrp="1"/>
          </p:cNvSpPr>
          <p:nvPr/>
        </p:nvSpPr>
        <p:spPr>
          <a:xfrm>
            <a:off x="609600" y="1250000"/>
            <a:ext cx="10972800" cy="53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Referidos: incentivo que NO toca el precio de lista de $800.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Registro del referidor en el tracker.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Reactivación por segmento: preguntó y no compró, no asistió, ex-alumno.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Ambos: adquisición barata sobre contactos ya existentes.</a:t>
            </a:r>
          </a:p>
        </p:txBody>
      </p:sp>
    </p:spTree>
  </p:cSld>
  <p:clrMapOvr>
    <a:override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"/>
          <p:cNvSpPr>
            <a:spLocks noGrp="1"/>
          </p:cNvSpPr>
          <p:nvPr/>
        </p:nvSpPr>
        <p:spPr>
          <a:xfrm>
            <a:off x="457200" y="180000"/>
            <a:ext cx="11277600" cy="6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marL="0" indent="0" lvl="0">
              <a:spcBef>
                <a:spcPts val="0"/>
              </a:spcBef>
              <a:buNone/>
            </a:pPr>
            <a:r>
              <a:rPr lang="es-MX" sz="2600" b="1">
                <a:solidFill>
                  <a:srgbClr val="FFFFFF"/>
                </a:solidFill>
              </a:rPr>
              <a:t>KPIs</a:t>
            </a:r>
          </a:p>
        </p:txBody>
      </p:sp>
      <p:graphicFrame>
        <p:nvGraphicFramePr>
          <p:cNvPr id="4" name="t"/>
          <p:cNvGraphicFramePr/>
          <p:nvPr/>
        </p:nvGraphicFramePr>
        <p:xfrm>
          <a:off x="609600" y="1350000"/>
          <a:ext cx="10972800" cy="0"/>
        </p:xfrm>
        <a:graphic>
          <a:graphicData uri="http://schemas.openxmlformats.org/drawingml/2006/table">
            <a:tbl>
              <a:tblPr firstRow="1" bandRow="1"/>
              <a:tblGrid>
                <a:gridCol w="2743200"/>
                <a:gridCol w="8229600"/>
              </a:tblGrid>
              <a:tr h="520000"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FFFFFF"/>
                          </a:solidFill>
                        </a:rPr>
                        <a:t>Área</a:t>
                      </a:r>
                    </a:p>
                  </a:txBody>
                  <a:tcPr marL="45720" marR="45720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FFFFFF"/>
                          </a:solidFill>
                        </a:rPr>
                        <a:t>Indicadores</a:t>
                      </a:r>
                    </a:p>
                  </a:txBody>
                  <a:tcPr marL="45720" marR="45720" marT="22860" marB="22860" anchor="ctr">
                    <a:solidFill>
                      <a:srgbClr val="1F3864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000000"/>
                          </a:solidFill>
                        </a:rPr>
                        <a:t>Atracción</a:t>
                      </a:r>
                    </a:p>
                  </a:txBody>
                  <a:tcPr marL="45720" marR="45720" marT="22860" marB="2286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Leads, CPL, clases muestra, inscritos, CAC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000000"/>
                          </a:solidFill>
                        </a:rPr>
                        <a:t>Fidelización</a:t>
                      </a:r>
                    </a:p>
                  </a:txBody>
                  <a:tcPr marL="45720" marR="45720" marT="22860" marB="2286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Retención, bajas/churn, reactivación, referidos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000000"/>
                          </a:solidFill>
                        </a:rPr>
                        <a:t>Negocio</a:t>
                      </a:r>
                    </a:p>
                  </a:txBody>
                  <a:tcPr marL="45720" marR="45720" marT="22860" marB="2286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Alumnos activos, crecimiento neto, ingresos, ROI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override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"/>
          <p:cNvSpPr>
            <a:spLocks noGrp="1"/>
          </p:cNvSpPr>
          <p:nvPr/>
        </p:nvSpPr>
        <p:spPr>
          <a:xfrm>
            <a:off x="457200" y="180000"/>
            <a:ext cx="11277600" cy="6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marL="0" indent="0" lvl="0">
              <a:spcBef>
                <a:spcPts val="0"/>
              </a:spcBef>
              <a:buNone/>
            </a:pPr>
            <a:r>
              <a:rPr lang="es-MX" sz="2600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4" name="tb"/>
          <p:cNvSpPr>
            <a:spLocks noGrp="1"/>
          </p:cNvSpPr>
          <p:nvPr/>
        </p:nvSpPr>
        <p:spPr>
          <a:xfrm>
            <a:off x="609600" y="1250000"/>
            <a:ext cx="10972800" cy="53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Ejecutivo: alumnos, altas, bajas, crecimiento neto, ingresos, CAC.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Operativo: alcance, CTR, CPL, conversaciones, clases muestra, conversión.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Implementado con cálculo automático en el libro de herramientas.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Se revisa en la reunión semanal.</a:t>
            </a:r>
          </a:p>
        </p:txBody>
      </p:sp>
    </p:spTree>
  </p:cSld>
  <p:clrMapOvr>
    <a:override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"/>
          <p:cNvSpPr>
            <a:spLocks noGrp="1"/>
          </p:cNvSpPr>
          <p:nvPr/>
        </p:nvSpPr>
        <p:spPr>
          <a:xfrm>
            <a:off x="457200" y="180000"/>
            <a:ext cx="11277600" cy="6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marL="0" indent="0" lvl="0">
              <a:spcBef>
                <a:spcPts val="0"/>
              </a:spcBef>
              <a:buNone/>
            </a:pPr>
            <a:r>
              <a:rPr lang="es-MX" sz="2600" b="1">
                <a:solidFill>
                  <a:srgbClr val="FFFFFF"/>
                </a:solidFill>
              </a:rPr>
              <a:t>Responsabilidades (RACI)</a:t>
            </a:r>
          </a:p>
        </p:txBody>
      </p:sp>
      <p:graphicFrame>
        <p:nvGraphicFramePr>
          <p:cNvPr id="4" name="t"/>
          <p:cNvGraphicFramePr/>
          <p:nvPr/>
        </p:nvGraphicFramePr>
        <p:xfrm>
          <a:off x="609600" y="1350000"/>
          <a:ext cx="10972800" cy="0"/>
        </p:xfrm>
        <a:graphic>
          <a:graphicData uri="http://schemas.openxmlformats.org/drawingml/2006/table">
            <a:tbl>
              <a:tblPr firstRow="1" bandRow="1"/>
              <a:tblGrid>
                <a:gridCol w="5486400"/>
                <a:gridCol w="5486400"/>
              </a:tblGrid>
              <a:tr h="520000"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FFFFFF"/>
                          </a:solidFill>
                        </a:rPr>
                        <a:t>Función</a:t>
                      </a:r>
                    </a:p>
                  </a:txBody>
                  <a:tcPr marL="45720" marR="45720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FFFFFF"/>
                          </a:solidFill>
                        </a:rPr>
                        <a:t>Responsable</a:t>
                      </a:r>
                    </a:p>
                  </a:txBody>
                  <a:tcPr marL="45720" marR="45720" marT="22860" marB="22860" anchor="ctr">
                    <a:solidFill>
                      <a:srgbClr val="1F3864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000000"/>
                          </a:solidFill>
                        </a:rPr>
                        <a:t>Estrategia / Dirección</a:t>
                      </a:r>
                    </a:p>
                  </a:txBody>
                  <a:tcPr marL="45720" marR="45720" marT="22860" marB="2286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DIR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000000"/>
                          </a:solidFill>
                        </a:rPr>
                        <a:t>Contenido / Video / Diseño</a:t>
                      </a:r>
                    </a:p>
                  </a:txBody>
                  <a:tcPr marL="45720" marR="45720" marT="22860" marB="2286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MKT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000000"/>
                          </a:solidFill>
                        </a:rPr>
                        <a:t>Pauta (Meta)</a:t>
                      </a:r>
                    </a:p>
                  </a:txBody>
                  <a:tcPr marL="45720" marR="45720" marT="22860" marB="2286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PAUTA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000000"/>
                          </a:solidFill>
                        </a:rPr>
                        <a:t>WhatsApp / Ventas / Cierre</a:t>
                      </a:r>
                    </a:p>
                  </a:txBody>
                  <a:tcPr marL="45720" marR="45720" marT="22860" marB="2286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VENTAS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000000"/>
                          </a:solidFill>
                        </a:rPr>
                        <a:t>Datos / Dashboard</a:t>
                      </a:r>
                    </a:p>
                  </a:txBody>
                  <a:tcPr marL="45720" marR="45720" marT="22860" marB="2286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DATOS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b"/>
          <p:cNvSpPr>
            <a:spLocks noGrp="1"/>
          </p:cNvSpPr>
          <p:nvPr/>
        </p:nvSpPr>
        <p:spPr>
          <a:xfrm>
            <a:off x="609600" y="6100000"/>
            <a:ext cx="10972800" cy="6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0" indent="0" lvl="0">
              <a:spcBef>
                <a:spcPts val="0"/>
              </a:spcBef>
              <a:buNone/>
            </a:pPr>
            <a:r>
              <a:rPr lang="es-MX" sz="1300" i="1">
                <a:solidFill>
                  <a:srgbClr val="595959"/>
                </a:solidFill>
              </a:rPr>
              <a:t>Asignar nombres reales en la Semana 1.</a:t>
            </a:r>
          </a:p>
        </p:txBody>
      </p:sp>
    </p:spTree>
  </p:cSld>
  <p:clrMapOvr>
    <a:override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"/>
          <p:cNvSpPr>
            <a:spLocks noGrp="1"/>
          </p:cNvSpPr>
          <p:nvPr/>
        </p:nvSpPr>
        <p:spPr>
          <a:xfrm>
            <a:off x="457200" y="180000"/>
            <a:ext cx="11277600" cy="6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marL="0" indent="0" lvl="0">
              <a:spcBef>
                <a:spcPts val="0"/>
              </a:spcBef>
              <a:buNone/>
            </a:pPr>
            <a:r>
              <a:rPr lang="es-MX" sz="2600" b="1">
                <a:solidFill>
                  <a:srgbClr val="FFFFFF"/>
                </a:solidFill>
              </a:rPr>
              <a:t>Presupuesto y escenarios (Sep–Dic)</a:t>
            </a:r>
          </a:p>
        </p:txBody>
      </p:sp>
      <p:graphicFrame>
        <p:nvGraphicFramePr>
          <p:cNvPr id="4" name="t"/>
          <p:cNvGraphicFramePr/>
          <p:nvPr/>
        </p:nvGraphicFramePr>
        <p:xfrm>
          <a:off x="609600" y="1350000"/>
          <a:ext cx="10972800" cy="0"/>
        </p:xfrm>
        <a:graphic>
          <a:graphicData uri="http://schemas.openxmlformats.org/drawingml/2006/table">
            <a:tbl>
              <a:tblPr firstRow="1" bandRow="1"/>
              <a:tblGrid>
                <a:gridCol w="2438400"/>
                <a:gridCol w="1219200"/>
                <a:gridCol w="2438400"/>
                <a:gridCol w="2438400"/>
                <a:gridCol w="2438400"/>
              </a:tblGrid>
              <a:tr h="520000"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FFFFFF"/>
                          </a:solidFill>
                        </a:rPr>
                        <a:t>Escenario</a:t>
                      </a:r>
                    </a:p>
                  </a:txBody>
                  <a:tcPr marL="45720" marR="45720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FFFFFF"/>
                          </a:solidFill>
                        </a:rPr>
                        <a:t>Meta</a:t>
                      </a:r>
                    </a:p>
                  </a:txBody>
                  <a:tcPr marL="45720" marR="45720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FFFFFF"/>
                          </a:solidFill>
                        </a:rPr>
                        <a:t>Inscritos/mes</a:t>
                      </a:r>
                    </a:p>
                  </a:txBody>
                  <a:tcPr marL="45720" marR="45720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FFFFFF"/>
                          </a:solidFill>
                        </a:rPr>
                        <a:t>Leads/mes (7.8%)</a:t>
                      </a:r>
                    </a:p>
                  </a:txBody>
                  <a:tcPr marL="45720" marR="45720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FFFFFF"/>
                          </a:solidFill>
                        </a:rPr>
                        <a:t>Leads/mes (11%)</a:t>
                      </a:r>
                    </a:p>
                  </a:txBody>
                  <a:tcPr marL="45720" marR="45720" marT="22860" marB="22860" anchor="ctr">
                    <a:solidFill>
                      <a:srgbClr val="1F3864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000000"/>
                          </a:solidFill>
                        </a:rPr>
                        <a:t>Conservador</a:t>
                      </a:r>
                    </a:p>
                  </a:txBody>
                  <a:tcPr marL="45720" marR="45720" marT="22860" marB="2286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100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~13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~165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~118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000000"/>
                          </a:solidFill>
                        </a:rPr>
                        <a:t>Objetivo</a:t>
                      </a:r>
                    </a:p>
                  </a:txBody>
                  <a:tcPr marL="45720" marR="45720" marT="22860" marB="2286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110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~16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~205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~145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 b="1">
                          <a:solidFill>
                            <a:srgbClr val="000000"/>
                          </a:solidFill>
                        </a:rPr>
                        <a:t>Agresivo</a:t>
                      </a:r>
                    </a:p>
                  </a:txBody>
                  <a:tcPr marL="45720" marR="45720" marT="22860" marB="2286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120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~19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~245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spcBef>
                          <a:spcPts val="0"/>
                        </a:spcBef>
                        <a:buNone/>
                      </a:pPr>
                      <a:r>
                        <a:rPr lang="es-MX" sz="1150">
                          <a:solidFill>
                            <a:srgbClr val="000000"/>
                          </a:solidFill>
                        </a:rPr>
                        <a:t>~173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b"/>
          <p:cNvSpPr>
            <a:spLocks noGrp="1"/>
          </p:cNvSpPr>
          <p:nvPr/>
        </p:nvSpPr>
        <p:spPr>
          <a:xfrm>
            <a:off x="609600" y="6100000"/>
            <a:ext cx="10972800" cy="6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0" indent="0" lvl="0">
              <a:spcBef>
                <a:spcPts val="0"/>
              </a:spcBef>
              <a:buNone/>
            </a:pPr>
            <a:r>
              <a:rPr lang="es-MX" sz="1300" i="1">
                <a:solidFill>
                  <a:srgbClr val="595959"/>
                </a:solidFill>
              </a:rPr>
              <a:t>El sistema actual ($5k/mes) ya produce ~16–18 inscritos/mes. El agresivo NO exige duplicar pauta.</a:t>
            </a:r>
          </a:p>
        </p:txBody>
      </p:sp>
    </p:spTree>
  </p:cSld>
  <p:clrMapOvr>
    <a:override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"/>
          <p:cNvSpPr>
            <a:spLocks noGrp="1"/>
          </p:cNvSpPr>
          <p:nvPr/>
        </p:nvSpPr>
        <p:spPr>
          <a:xfrm>
            <a:off x="457200" y="180000"/>
            <a:ext cx="11277600" cy="6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marL="0" indent="0" lvl="0">
              <a:spcBef>
                <a:spcPts val="0"/>
              </a:spcBef>
              <a:buNone/>
            </a:pPr>
            <a:r>
              <a:rPr lang="es-MX" sz="2600" b="1">
                <a:solidFill>
                  <a:srgbClr val="FFFFFF"/>
                </a:solidFill>
              </a:rPr>
              <a:t>Riesgos y mitigaciones</a:t>
            </a:r>
          </a:p>
        </p:txBody>
      </p:sp>
      <p:sp>
        <p:nvSpPr>
          <p:cNvPr id="4" name="tb"/>
          <p:cNvSpPr>
            <a:spLocks noGrp="1"/>
          </p:cNvSpPr>
          <p:nvPr/>
        </p:nvSpPr>
        <p:spPr>
          <a:xfrm>
            <a:off x="609600" y="1250000"/>
            <a:ext cx="10972800" cy="53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Capacidad desconocida → confirmar grupos/lugares antes de escalar.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Churn desconocido → medir bajas desde septiembre.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“Inscripción gratis” / precio → migrar a valor.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Dependencia de una persona → RACI claro.</a:t>
            </a:r>
          </a:p>
        </p:txBody>
      </p:sp>
    </p:spTree>
  </p:cSld>
  <p:clrMapOvr>
    <a:override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"/>
          <p:cNvSpPr>
            <a:spLocks noGrp="1"/>
          </p:cNvSpPr>
          <p:nvPr/>
        </p:nvSpPr>
        <p:spPr>
          <a:xfrm>
            <a:off x="457200" y="180000"/>
            <a:ext cx="11277600" cy="6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marL="0" indent="0" lvl="0">
              <a:spcBef>
                <a:spcPts val="0"/>
              </a:spcBef>
              <a:buNone/>
            </a:pPr>
            <a:r>
              <a:rPr lang="es-MX" sz="2600" b="1">
                <a:solidFill>
                  <a:srgbClr val="FFFFFF"/>
                </a:solidFill>
              </a:rPr>
              <a:t>Las 10 prioridades</a:t>
            </a:r>
          </a:p>
        </p:txBody>
      </p:sp>
      <p:sp>
        <p:nvSpPr>
          <p:cNvPr id="4" name="tb"/>
          <p:cNvSpPr>
            <a:spLocks noGrp="1"/>
          </p:cNvSpPr>
          <p:nvPr/>
        </p:nvSpPr>
        <p:spPr>
          <a:xfrm>
            <a:off x="609600" y="1250000"/>
            <a:ext cx="10972800" cy="53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1) Proceso WhatsApp + SLA.  2) Medición/dashboard.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3) Reactivación de leads.  4) Reel testimonial + remarketing.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5) Segmentar campañas por producto.  6) Referidos sanos.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7) Levantar capacidad y churn.  8) Recalcular ROI real.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9) Calendario editorial 6 pilares.  10) Reunión semanal + semáforo.</a:t>
            </a:r>
          </a:p>
        </p:txBody>
      </p:sp>
    </p:spTree>
  </p:cSld>
  <p:clrMapOvr>
    <a:override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"/>
          <p:cNvSpPr>
            <a:spLocks noGrp="1"/>
          </p:cNvSpPr>
          <p:nvPr/>
        </p:nvSpPr>
        <p:spPr>
          <a:xfrm>
            <a:off x="457200" y="180000"/>
            <a:ext cx="11277600" cy="6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marL="0" indent="0" lvl="0">
              <a:spcBef>
                <a:spcPts val="0"/>
              </a:spcBef>
              <a:buNone/>
            </a:pPr>
            <a:r>
              <a:rPr lang="es-MX" sz="2600" b="1">
                <a:solidFill>
                  <a:srgbClr val="FFFFFF"/>
                </a:solidFill>
              </a:rPr>
              <a:t>Qué necesitamos de Dirección</a:t>
            </a:r>
          </a:p>
        </p:txBody>
      </p:sp>
      <p:sp>
        <p:nvSpPr>
          <p:cNvPr id="4" name="tb"/>
          <p:cNvSpPr>
            <a:spLocks noGrp="1"/>
          </p:cNvSpPr>
          <p:nvPr/>
        </p:nvSpPr>
        <p:spPr>
          <a:xfrm>
            <a:off x="609600" y="1250000"/>
            <a:ext cx="10972800" cy="53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Confirmar la meta única (100 o 120) y la meta de ingresos.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Datos de capacidad: grupos, lugares libres, profesores.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Datos de bajas (churn) de los últimos meses.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Aprobar el incentivo de referidos y el presupuesto de octubre.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Asignar responsables (RACI).</a:t>
            </a:r>
          </a:p>
        </p:txBody>
      </p:sp>
    </p:spTree>
  </p:cSld>
  <p:clrMapOvr>
    <a:override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"/>
          <p:cNvSpPr>
            <a:spLocks noGrp="1"/>
          </p:cNvSpPr>
          <p:nvPr/>
        </p:nvSpPr>
        <p:spPr>
          <a:xfrm>
            <a:off x="457200" y="180000"/>
            <a:ext cx="11277600" cy="66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marL="0" indent="0" lvl="0">
              <a:spcBef>
                <a:spcPts val="0"/>
              </a:spcBef>
              <a:buNone/>
            </a:pPr>
            <a:r>
              <a:rPr lang="es-MX" sz="2600" b="1">
                <a:solidFill>
                  <a:srgbClr val="FFFFFF"/>
                </a:solidFill>
              </a:rPr>
              <a:t>Primeros pasos (Semana 1)</a:t>
            </a:r>
          </a:p>
        </p:txBody>
      </p:sp>
      <p:sp>
        <p:nvSpPr>
          <p:cNvPr id="4" name="tb"/>
          <p:cNvSpPr>
            <a:spLocks noGrp="1"/>
          </p:cNvSpPr>
          <p:nvPr/>
        </p:nvSpPr>
        <p:spPr>
          <a:xfrm>
            <a:off x="609600" y="1250000"/>
            <a:ext cx="10972800" cy="53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Kickoff y asignación de roles.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Llenar el Excel de herramientas (capacidad, alumnos, bajas).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Auditar la campaña activa.</a:t>
            </a:r>
          </a:p>
          <a:p>
            <a:pPr marL="274638" indent="-274638" lvl="0">
              <a:spcBef>
                <a:spcPts val="500"/>
              </a:spcBef>
              <a:buFont typeface="Arial"/>
              <a:buChar char="•"/>
            </a:pPr>
            <a:r>
              <a:rPr lang="es-MX" sz="1700">
                <a:solidFill>
                  <a:srgbClr val="000000"/>
                </a:solidFill>
              </a:rPr>
              <a:t>Diseñar el proceso de WhatsApp.</a:t>
            </a:r>
          </a:p>
        </p:txBody>
      </p:sp>
    </p:spTree>
  </p:cSld>
  <p:clrMapOvr>
    <a:override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b"/>
          <p:cNvSpPr>
            <a:spLocks noGrp="1"/>
          </p:cNvSpPr>
          <p:nvPr/>
        </p:nvSpPr>
        <p:spPr>
          <a:xfrm>
            <a:off x="914400" y="2600000"/>
            <a:ext cx="10363200" cy="20000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s-MX" sz="4000" b="1">
                <a:solidFill>
                  <a:srgbClr val="FFFFFF"/>
                </a:solidFill>
              </a:rPr>
              <a:t>Producto que convierte + máquina que ya funciona</a:t>
            </a:r>
          </a:p>
          <a:p>
            <a:pPr marL="0" indent="0" lvl="0" algn="ctr">
              <a:spcBef>
                <a:spcPts val="800"/>
              </a:spcBef>
              <a:buNone/>
            </a:pPr>
            <a:r>
              <a:rPr lang="es-MX" sz="2000">
                <a:solidFill>
                  <a:srgbClr val="DEEBF7"/>
                </a:solidFill>
              </a:rPr>
              <a:t>El crecimiento sale de mejorar el seguimiento, no de gastar más.</a:t>
            </a:r>
          </a:p>
        </p:txBody>
      </p:sp>
    </p:spTree>
  </p:cSld>
  <p:clrMapOvr>
    <a:overrideClrMapping/>
  </p:clrMapOvr>
</p:sld>
</file>

<file path=ppt/theme/theme1.xml><?xml version="1.0" encoding="utf-8"?>
<a:theme xmlns:a="http://schemas.openxmlformats.org/drawingml/2006/main" name="Kugelman">
  <a:themeElements>
    <a:clrScheme name="Kugelman">
      <a:dk1>
        <a:sysClr val="windowText" lastClr="000000"/>
      </a:dk1>
      <a:lt1>
        <a:sysClr val="window" lastClr="FFFFFF"/>
      </a:lt1>
      <a:dk2>
        <a:srgbClr val="1F3864"/>
      </a:dk2>
      <a:lt2>
        <a:srgbClr val="EAF1F8"/>
      </a:lt2>
      <a:accent1>
        <a:srgbClr val="2F5597"/>
      </a:accent1>
      <a:accent2>
        <a:srgbClr val="9DC3E6"/>
      </a:accent2>
      <a:accent3>
        <a:srgbClr val="C00000"/>
      </a:accent3>
      <a:accent4>
        <a:srgbClr val="70AD47"/>
      </a:accent4>
      <a:accent5>
        <a:srgbClr val="FFC000"/>
      </a:accent5>
      <a:accent6>
        <a:srgbClr val="ED7D31"/>
      </a:accent6>
      <a:hlink>
        <a:srgbClr val="0563C1"/>
      </a:hlink>
      <a:folHlink>
        <a:srgbClr val="954F72"/>
      </a:folHlink>
    </a:clrScheme>
    <a:fontScheme name="Kugelma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ugelm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50000"/>
          </a:schemeClr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50000"/>
          </a:schemeClr>
        </a:solidFill>
      </a:bgFillStyleLst>
    </a:fmtScheme>
  </a:themeElements>
</a:theme>
</file>